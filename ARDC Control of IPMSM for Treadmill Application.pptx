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3BC14-2164-3828-15F6-BD71D69FE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558F51-187D-52F8-BCE8-6EF094D8F3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5D14E2-3744-1930-A18C-A99A2F8087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777B2-FEAA-A1F1-0FEE-976DF1473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228EE1-8BAA-ED92-6169-71CF59101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53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F69C6-A28C-F767-AFF2-1B3504FE2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E97FD-F2E8-DC07-7B2C-35D096CB3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71309-B807-F79F-80F3-7F50F99CC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7AEFF-D067-3B43-1292-401E4970D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C07D8-4EF1-358A-ED79-E18192B3A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9167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CCECF-39A0-ECC0-0B69-BC7291F6F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94E7E9-2FAE-3CEF-8A26-B2B9CC8B7A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E212A6-8C9C-5B23-CBA8-A177AD33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629D4-20B6-D15A-8791-DACEB85D2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F5F121-9938-E801-E7CA-B9D6E30EA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115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7E073-5641-19CE-E05F-92611CC1F0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93484-17C1-6FA7-B783-60BFC4F0F2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4979BF-2D14-B025-8E23-F5BF18529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E63357-119C-103C-CD9A-550D6FFA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91ABC-06AF-9BE2-59A1-D8DC66DA1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33B072-7E5B-94FD-2523-6006FE5FC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516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1E77D-51A0-F2D7-D97A-2922E954F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061307-AFFD-A8DA-3135-954A292C6A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D3119-2055-8D39-3DD0-A08FAA00F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BD2403-2407-9508-361A-C4186FF0C4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56D34-3157-838B-BCF2-0D8822B6DA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6E2CD1-980F-958F-5F53-38721BEA0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1F6FBF-AE01-D695-4503-E483C4AD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76C768-15C7-3E12-42AF-C37C1D97C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4407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EE44BE-6894-BDE5-070A-C84229CE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2EAC49-32B5-CAFC-935A-4BBD3882F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148B24-7770-5C21-3645-1F9E919E4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2EE26C-14A7-5432-BD44-28E62AEFA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5819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F4CAD-3E7B-37B0-D272-CB2E2B751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CCD170-4753-A7E9-906C-D615A9C48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0813F-1B0D-8DF7-8C7B-1E2F5F675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89190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F2888-01AE-1C0F-7D96-5E9B228F6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07C68-1028-BEE6-D936-42840187D1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8BD035-465A-129F-07B4-B0E3190A9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E4102-E988-FA67-877F-E0BC65880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20E090-CF5C-A92D-29D5-49EC3C0B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CB3896-161C-7057-9797-B83D89A3A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107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FE79D-33D2-A2C3-858B-37D355FAD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D2B8DB-4D9D-F6D2-C918-CE7A701CD2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BDA241-F455-89AC-8BF0-D661AE4E59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9B694-4AC3-0CF5-892B-810DA572F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5D1D9-75F4-C4B0-9A46-36A890FEC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56C30-3046-6901-B680-9F468DF4E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00816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93198-F104-F206-9482-12BBF2C56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818854-E4C5-9FAE-83BE-B353767A8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D3342-22ED-F556-0C23-5DD5651BA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3F398-199C-CDC1-7E52-0C6C115C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CA2E0-1769-B582-2024-E8509D079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646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54F090-A819-8B7E-F7E3-A717568B8C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1EEA42-AD1E-1B5B-151F-B5B024077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939E5-08C5-8598-1CA0-389340C45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27A70-21AD-C8C3-464E-7566628DA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6956-60D2-12D2-5DBC-543F51C8B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7094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3A7DBD-E4E8-C11C-615E-C4EB62E9D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EA5AF4-CACC-E6C1-47BB-0846B5E49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A96721-3812-E412-CD90-AF14B60CF6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3B981-9152-4B6C-A9C3-C062B6CF7F86}" type="datetimeFigureOut">
              <a:rPr lang="en-IN" smtClean="0"/>
              <a:t>12-09-2026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D01895-89C6-623F-9A6B-5CCB7C4742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42239-0382-5FFE-DA23-768B2E251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1149DC-00C6-4979-A903-DB482EAC31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509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2B043-1841-992E-8ADE-DF4FF0B0A6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ARDC Control of IPMSM for Treadmill Application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BDAAEB-E76B-E612-A5D9-A8C84ECDF3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-By </a:t>
            </a:r>
            <a:r>
              <a:rPr lang="en-IN" dirty="0" err="1"/>
              <a:t>Laukik</a:t>
            </a:r>
            <a:r>
              <a:rPr lang="en-IN" dirty="0"/>
              <a:t> Desai</a:t>
            </a:r>
          </a:p>
        </p:txBody>
      </p:sp>
    </p:spTree>
    <p:extLst>
      <p:ext uri="{BB962C8B-B14F-4D97-AF65-F5344CB8AC3E}">
        <p14:creationId xmlns:p14="http://schemas.microsoft.com/office/powerpoint/2010/main" val="3106325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DBD30-AB17-CA35-472D-4B908957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419" y="344129"/>
            <a:ext cx="10997381" cy="462117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86AFF-66AE-C3FB-AAC1-B7783AF6F3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419" y="1048877"/>
            <a:ext cx="4864510" cy="4351338"/>
          </a:xfrm>
        </p:spPr>
        <p:txBody>
          <a:bodyPr>
            <a:normAutofit/>
          </a:bodyPr>
          <a:lstStyle/>
          <a:p>
            <a:r>
              <a:rPr lang="en-IN" sz="1600" dirty="0"/>
              <a:t>Basic FOC design (constant load and constant speed)</a:t>
            </a:r>
          </a:p>
          <a:p>
            <a:r>
              <a:rPr lang="en-IN" sz="1600" dirty="0"/>
              <a:t>Basic FOC based design (treadmill load profile)</a:t>
            </a:r>
          </a:p>
          <a:p>
            <a:r>
              <a:rPr lang="en-IN" sz="1600" dirty="0"/>
              <a:t>ARDC design (constant load and constant speed)</a:t>
            </a:r>
          </a:p>
          <a:p>
            <a:r>
              <a:rPr lang="en-IN" sz="1600" dirty="0"/>
              <a:t>ARDC design (treadmill load profile)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236549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2F64-54BF-CB2D-50D4-E18E328AD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6" y="285136"/>
            <a:ext cx="10980174" cy="629264"/>
          </a:xfrm>
        </p:spPr>
        <p:txBody>
          <a:bodyPr>
            <a:normAutofit/>
          </a:bodyPr>
          <a:lstStyle/>
          <a:p>
            <a:r>
              <a:rPr lang="en-IN" sz="3200" b="1" dirty="0"/>
              <a:t>Basic FOC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3B51AB-8EF6-192B-E7CA-577227E6E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626" y="914400"/>
            <a:ext cx="10980174" cy="4898769"/>
          </a:xfrm>
        </p:spPr>
        <p:txBody>
          <a:bodyPr>
            <a:normAutofit/>
          </a:bodyPr>
          <a:lstStyle/>
          <a:p>
            <a:r>
              <a:rPr lang="en-IN" sz="2000" dirty="0"/>
              <a:t>Load Profile : </a:t>
            </a:r>
          </a:p>
          <a:p>
            <a:pPr marL="457200" lvl="1" indent="0">
              <a:buNone/>
            </a:pPr>
            <a:r>
              <a:rPr lang="en-IN" sz="2000" dirty="0"/>
              <a:t>Constant Torque load  5Nm ( implemented with ramp + saturation for appropriate rise time) </a:t>
            </a:r>
          </a:p>
          <a:p>
            <a:r>
              <a:rPr lang="en-IN" sz="2000" dirty="0"/>
              <a:t>Controller Design: </a:t>
            </a:r>
          </a:p>
          <a:p>
            <a:pPr lvl="1"/>
            <a:r>
              <a:rPr lang="en-IN" sz="2000" dirty="0"/>
              <a:t>Current Controller: </a:t>
            </a:r>
          </a:p>
          <a:p>
            <a:pPr lvl="2"/>
            <a:r>
              <a:rPr lang="en-IN" dirty="0"/>
              <a:t>Id and </a:t>
            </a:r>
            <a:r>
              <a:rPr lang="en-IN" dirty="0" err="1"/>
              <a:t>Iq</a:t>
            </a:r>
            <a:r>
              <a:rPr lang="en-IN" dirty="0"/>
              <a:t> current loops tuned based on motor electrical plant transfer function (L/R) time constant. </a:t>
            </a:r>
          </a:p>
          <a:p>
            <a:pPr lvl="1"/>
            <a:r>
              <a:rPr lang="en-IN" sz="2000" dirty="0"/>
              <a:t>Speed Controller: </a:t>
            </a:r>
          </a:p>
          <a:p>
            <a:pPr lvl="2"/>
            <a:r>
              <a:rPr lang="en-IN" dirty="0"/>
              <a:t>Ref speed and actual motor speed error controlled with PI controller. </a:t>
            </a:r>
          </a:p>
          <a:p>
            <a:pPr lvl="2"/>
            <a:r>
              <a:rPr lang="en-IN" dirty="0"/>
              <a:t>Tuning is based on mechanical plant characteristics (J/B) time constant</a:t>
            </a:r>
          </a:p>
          <a:p>
            <a:pPr lvl="2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5869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3AE78-D199-9180-0A80-6DF28A08C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916" y="197977"/>
            <a:ext cx="10515600" cy="765586"/>
          </a:xfrm>
        </p:spPr>
        <p:txBody>
          <a:bodyPr>
            <a:normAutofit/>
          </a:bodyPr>
          <a:lstStyle/>
          <a:p>
            <a:r>
              <a:rPr lang="en-IN" sz="3200" b="1" dirty="0"/>
              <a:t>Simulation Layout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D2E7C2-A341-1BD4-0D4F-48921E046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3563"/>
            <a:ext cx="12192000" cy="5112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666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AA354-45B2-4C6C-F11C-221079F5B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96" y="325796"/>
            <a:ext cx="10515600" cy="539443"/>
          </a:xfrm>
        </p:spPr>
        <p:txBody>
          <a:bodyPr>
            <a:normAutofit/>
          </a:bodyPr>
          <a:lstStyle/>
          <a:p>
            <a:r>
              <a:rPr lang="en-IN" sz="3200" b="1" dirty="0"/>
              <a:t>Simulation Results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E3B2B-DDA1-CF77-8B3A-1C1054DC3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08" y="865239"/>
            <a:ext cx="11078496" cy="589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569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AE64-275D-245E-860E-B0E174A654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87" y="266803"/>
            <a:ext cx="10931013" cy="627933"/>
          </a:xfrm>
        </p:spPr>
        <p:txBody>
          <a:bodyPr>
            <a:normAutofit/>
          </a:bodyPr>
          <a:lstStyle/>
          <a:p>
            <a:r>
              <a:rPr lang="en-IN" sz="3200" b="1" dirty="0"/>
              <a:t>Treadmill Load Calculation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3856-3580-50FD-C5C0-D00CAAC6C4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24465" y="894736"/>
                <a:ext cx="11029335" cy="5282227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IN" sz="1600" dirty="0"/>
                  <a:t>Assume a man of mass 60Kg and height 6ft is a fast runner who is running on the designed treadmill. </a:t>
                </a:r>
              </a:p>
              <a:p>
                <a:r>
                  <a:rPr lang="en-IN" sz="1600" dirty="0"/>
                  <a:t>Treadmill radius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IN" sz="1600" dirty="0"/>
                  <a:t> = 0.1m and friction coefficient µ = 0.6 </a:t>
                </a:r>
              </a:p>
              <a:p>
                <a:r>
                  <a:rPr lang="en-IN" sz="1600" dirty="0"/>
                  <a:t>Total load torque on the treadmill motor: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𝑡𝑜𝑡𝑎𝑙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𝑏𝑒𝑙𝑡</m:t>
                            </m:r>
                          </m:sub>
                        </m:s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𝑓𝑟𝑖𝑐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1600" dirty="0"/>
                  <a:t>*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1600" b="0" i="1" dirty="0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IN" sz="1600" dirty="0"/>
              </a:p>
              <a:p>
                <a:r>
                  <a:rPr lang="en-IN" sz="1600" dirty="0"/>
                  <a:t>Horizontal GRF: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𝑏𝑒𝑙𝑡</m:t>
                        </m:r>
                      </m:sub>
                    </m:sSub>
                  </m:oMath>
                </a14:m>
                <a:endParaRPr lang="en-IN" sz="1600" dirty="0"/>
              </a:p>
              <a:p>
                <a:pPr marL="457200" lvl="1" indent="0">
                  <a:buNone/>
                </a:pPr>
                <a:r>
                  <a:rPr lang="en-IN" sz="1600" dirty="0"/>
                  <a:t>Mass = 60Kg , Height = 6ft (stride length = L = 1.8m)</a:t>
                </a:r>
              </a:p>
              <a:p>
                <a:pPr marL="457200" lvl="1" indent="0">
                  <a:buNone/>
                </a:pPr>
                <a:r>
                  <a:rPr lang="en-IN" sz="1600" dirty="0"/>
                  <a:t>Belt speed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=5</m:t>
                    </m:r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den>
                    </m:f>
                  </m:oMath>
                </a14:m>
                <a:endParaRPr lang="en-IN" sz="1600" b="0" dirty="0"/>
              </a:p>
              <a:p>
                <a:pPr marL="457200" lvl="1" indent="0">
                  <a:buNone/>
                </a:pPr>
                <a:r>
                  <a:rPr lang="en-IN" sz="1600" dirty="0"/>
                  <a:t>Hence, stride frequency fs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1.8</m:t>
                        </m:r>
                      </m:den>
                    </m:f>
                  </m:oMath>
                </a14:m>
                <a:r>
                  <a:rPr lang="en-IN" sz="1600" dirty="0"/>
                  <a:t> = 2.8 Hz</a:t>
                </a:r>
              </a:p>
              <a:p>
                <a:pPr marL="457200" lvl="1" indent="0">
                  <a:buNone/>
                </a:pPr>
                <a:endParaRPr lang="en-IN" sz="1600" dirty="0"/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𝑏𝑒𝑙𝑡</m:t>
                        </m:r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brk m:alnAt="23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a:rPr lang="el-GR" sz="1600" b="0" i="1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den>
                                </m:f>
                              </m:e>
                            </m:d>
                          </m:sup>
                        </m:sSup>
                      </m:e>
                    </m:nary>
                  </m:oMath>
                </a14:m>
                <a:r>
                  <a:rPr lang="en-IN" sz="1600" dirty="0"/>
                  <a:t> where A = mass*</a:t>
                </a:r>
                <a:r>
                  <a:rPr lang="en-IN" sz="1600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1600" dirty="0"/>
                  <a:t>fs = 60*5*2.8 = 840N, </a:t>
                </a:r>
                <a:r>
                  <a:rPr lang="el-GR" sz="1600" dirty="0"/>
                  <a:t>σ</a:t>
                </a:r>
                <a:r>
                  <a:rPr lang="en-IN" sz="1600" dirty="0"/>
                  <a:t> = 0.3  (contact time), Ts = 1/fs = 0.36</a:t>
                </a:r>
              </a:p>
              <a:p>
                <a:pPr/>
                <a:r>
                  <a:rPr lang="en-IN" sz="2000" dirty="0"/>
                  <a:t>Vertical GRF: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𝑓𝑟𝑖𝑐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</a:rPr>
                      <m:t>=µ∗</m:t>
                    </m:r>
                    <m:sSub>
                      <m:sSub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IN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IN" sz="2000" b="0" dirty="0"/>
              </a:p>
              <a:p>
                <a:pPr marL="457200" lvl="1" indent="0">
                  <a:buNone/>
                </a:pPr>
                <a:endParaRPr lang="en-IN" sz="160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d>
                      <m:d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𝑚𝑔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brk m:alnAt="23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3"/>
                          </m:rPr>
                          <a:rPr lang="en-IN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d>
                              <m:dPr>
                                <m:ctrlPr>
                                  <a:rPr lang="en-IN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e>
                                          <m:sub>
                                            <m:r>
                                              <a:rPr lang="en-IN" sz="16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𝑠</m:t>
                                            </m:r>
                                          </m:sub>
                                        </m:sSub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IN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sSubSup>
                                      <m:sSubSupPr>
                                        <m:ctrlPr>
                                          <a:rPr lang="el-GR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l-GR" sz="1600" b="0" i="1" smtClean="0">
                                            <a:latin typeface="Cambria Math" panose="02040503050406030204" pitchFamily="18" charset="0"/>
                                          </a:rPr>
                                          <m:t>σ</m:t>
                                        </m:r>
                                      </m:e>
                                      <m:sub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𝑣</m:t>
                                        </m:r>
                                      </m:sub>
                                      <m:sup>
                                        <m:r>
                                          <a:rPr lang="en-IN" sz="16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e>
                            </m:d>
                          </m:sup>
                        </m:sSup>
                      </m:e>
                    </m:nary>
                  </m:oMath>
                </a14:m>
                <a:r>
                  <a:rPr lang="en-IN" sz="1600" dirty="0"/>
                  <a:t> where B = 400N impact peak,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l-GR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l-GR" sz="1600" i="1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=0.1</m:t>
                    </m:r>
                  </m:oMath>
                </a14:m>
                <a:endParaRPr lang="en-IN" sz="1600" dirty="0"/>
              </a:p>
              <a:p>
                <a:pPr marL="457200" lvl="1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457200" lvl="1" indent="0">
                  <a:buNone/>
                </a:pPr>
                <a:endParaRPr lang="en-IN" sz="1600" dirty="0"/>
              </a:p>
              <a:p>
                <a:pPr marL="457200" lvl="1" indent="0">
                  <a:buNone/>
                </a:pPr>
                <a:endParaRPr lang="en-IN" sz="1600" dirty="0"/>
              </a:p>
              <a:p>
                <a:pPr marL="457200" lvl="1" indent="0">
                  <a:buNone/>
                </a:pPr>
                <a:endParaRPr lang="en-IN" sz="1600" dirty="0"/>
              </a:p>
              <a:p>
                <a:pPr marL="457200" lvl="1" indent="0">
                  <a:buNone/>
                </a:pPr>
                <a:endParaRPr lang="en-IN" sz="1600" dirty="0"/>
              </a:p>
              <a:p>
                <a:pPr marL="0" indent="0">
                  <a:buNone/>
                </a:pPr>
                <a:r>
                  <a:rPr lang="en-IN" sz="1600" dirty="0"/>
                  <a:t>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3C3856-3580-50FD-C5C0-D00CAAC6C4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4465" y="894736"/>
                <a:ext cx="11029335" cy="5282227"/>
              </a:xfrm>
              <a:blipFill>
                <a:blip r:embed="rId2"/>
                <a:stretch>
                  <a:fillRect l="-387" t="-127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207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219B5-117D-8207-E84C-DD59BB09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923" y="207809"/>
            <a:ext cx="10515600" cy="470617"/>
          </a:xfrm>
        </p:spPr>
        <p:txBody>
          <a:bodyPr>
            <a:normAutofit fontScale="90000"/>
          </a:bodyPr>
          <a:lstStyle/>
          <a:p>
            <a:r>
              <a:rPr lang="en-IN" sz="3200" b="1" dirty="0"/>
              <a:t>Basic FOC with Treadmill Load Results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48C64-6149-5883-5098-599275BB1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3" y="664690"/>
            <a:ext cx="11304638" cy="5985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25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279</Words>
  <Application>Microsoft Office PowerPoint</Application>
  <PresentationFormat>Widescreen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Cambria Math</vt:lpstr>
      <vt:lpstr>Office Theme</vt:lpstr>
      <vt:lpstr>ARDC Control of IPMSM for Treadmill Application</vt:lpstr>
      <vt:lpstr>Index</vt:lpstr>
      <vt:lpstr>Basic FOC </vt:lpstr>
      <vt:lpstr>Simulation Layout</vt:lpstr>
      <vt:lpstr>Simulation Results </vt:lpstr>
      <vt:lpstr>Treadmill Load Calculation </vt:lpstr>
      <vt:lpstr>Basic FOC with Treadmill Load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LAUKIK DESAI</dc:creator>
  <cp:lastModifiedBy>LAUKIK DESAI</cp:lastModifiedBy>
  <cp:revision>6</cp:revision>
  <dcterms:created xsi:type="dcterms:W3CDTF">2026-09-12T05:43:48Z</dcterms:created>
  <dcterms:modified xsi:type="dcterms:W3CDTF">2026-09-12T12:23:42Z</dcterms:modified>
</cp:coreProperties>
</file>